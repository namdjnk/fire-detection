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eecffcf4804678" /><Relationship Type="http://schemas.openxmlformats.org/officeDocument/2006/relationships/extended-properties" Target="/docProps/app.xml" Id="Rbb0a16be92154972" /><Relationship Type="http://schemas.openxmlformats.org/officeDocument/2006/relationships/officeDocument" Target="/ppt/presentation.xml" Id="Rfd7928536ffe43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56a29ffcd144bd"/>
  </p:sldMasterIdLst>
  <p:notesMasterIdLst>
    <p:notesMasterId xmlns:r="http://schemas.openxmlformats.org/officeDocument/2006/relationships" r:id="Rbf94095881a94f16"/>
  </p:notesMasterIdLst>
  <p:sldIdLst>
    <p:sldId xmlns:r="http://schemas.openxmlformats.org/officeDocument/2006/relationships" id="256" r:id="R19fdd61af45a41b0"/>
    <p:sldId xmlns:r="http://schemas.openxmlformats.org/officeDocument/2006/relationships" id="257" r:id="R157b2f61be144853"/>
    <p:sldId xmlns:r="http://schemas.openxmlformats.org/officeDocument/2006/relationships" id="258" r:id="R64fd3e38c88f4e07"/>
    <p:sldId xmlns:r="http://schemas.openxmlformats.org/officeDocument/2006/relationships" id="259" r:id="Rea944d87557c4525"/>
    <p:sldId xmlns:r="http://schemas.openxmlformats.org/officeDocument/2006/relationships" id="260" r:id="Re480d95f99b44c47"/>
    <p:sldId xmlns:r="http://schemas.openxmlformats.org/officeDocument/2006/relationships" id="261" r:id="R850a2f124f13424b"/>
    <p:sldId xmlns:r="http://schemas.openxmlformats.org/officeDocument/2006/relationships" id="262" r:id="Rf6d0b6bd187c4834"/>
    <p:sldId xmlns:r="http://schemas.openxmlformats.org/officeDocument/2006/relationships" id="263" r:id="Ra283df394a334299"/>
    <p:sldId xmlns:r="http://schemas.openxmlformats.org/officeDocument/2006/relationships" id="264" r:id="R2234de1e62ad4572"/>
    <p:sldId xmlns:r="http://schemas.openxmlformats.org/officeDocument/2006/relationships" id="265" r:id="R5ef13ae3f4144824"/>
    <p:sldId xmlns:r="http://schemas.openxmlformats.org/officeDocument/2006/relationships" id="266" r:id="Rbeef81f90c914f51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3bb392f41f46d6" /><Relationship Type="http://schemas.openxmlformats.org/officeDocument/2006/relationships/slideMaster" Target="/ppt/slideMasters/slideMaster1.xml" Id="Rf656a29ffcd144bd" /><Relationship Type="http://schemas.openxmlformats.org/officeDocument/2006/relationships/notesMaster" Target="/ppt/notesMasters/notesMaster1.xml" Id="Rbf94095881a94f16" /><Relationship Type="http://schemas.openxmlformats.org/officeDocument/2006/relationships/presProps" Target="/ppt/presProps.xml" Id="R9ae727ccd7c64653" /><Relationship Type="http://schemas.openxmlformats.org/officeDocument/2006/relationships/tableStyles" Target="/ppt/tableStyles.xml" Id="Rda097d44f3184155" /><Relationship Type="http://schemas.openxmlformats.org/officeDocument/2006/relationships/slide" Target="/ppt/slides/slide1.xml" Id="R19fdd61af45a41b0" /><Relationship Type="http://schemas.openxmlformats.org/officeDocument/2006/relationships/slide" Target="/ppt/slides/slide2.xml" Id="R157b2f61be144853" /><Relationship Type="http://schemas.openxmlformats.org/officeDocument/2006/relationships/slide" Target="/ppt/slides/slide3.xml" Id="R64fd3e38c88f4e07" /><Relationship Type="http://schemas.openxmlformats.org/officeDocument/2006/relationships/slide" Target="/ppt/slides/slide4.xml" Id="Rea944d87557c4525" /><Relationship Type="http://schemas.openxmlformats.org/officeDocument/2006/relationships/slide" Target="/ppt/slides/slide5.xml" Id="Re480d95f99b44c47" /><Relationship Type="http://schemas.openxmlformats.org/officeDocument/2006/relationships/slide" Target="/ppt/slides/slide6.xml" Id="R850a2f124f13424b" /><Relationship Type="http://schemas.openxmlformats.org/officeDocument/2006/relationships/slide" Target="/ppt/slides/slide7.xml" Id="Rf6d0b6bd187c4834" /><Relationship Type="http://schemas.openxmlformats.org/officeDocument/2006/relationships/slide" Target="/ppt/slides/slide8.xml" Id="Ra283df394a334299" /><Relationship Type="http://schemas.openxmlformats.org/officeDocument/2006/relationships/slide" Target="/ppt/slides/slide9.xml" Id="R2234de1e62ad4572" /><Relationship Type="http://schemas.openxmlformats.org/officeDocument/2006/relationships/slide" Target="/ppt/slides/slide10.xml" Id="R5ef13ae3f4144824" /><Relationship Type="http://schemas.openxmlformats.org/officeDocument/2006/relationships/slide" Target="/ppt/slides/slide11.xml" Id="Rbeef81f90c914f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e2d40ace5d4b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c4bd7add104186" /><Relationship Type="http://schemas.openxmlformats.org/officeDocument/2006/relationships/notesMaster" Target="/ppt/notesMasters/notesMaster1.xml" Id="R48c58cb6522d4c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3cdbbe646e49c7" /><Relationship Type="http://schemas.openxmlformats.org/officeDocument/2006/relationships/notesMaster" Target="/ppt/notesMasters/notesMaster1.xml" Id="R1bc76f34af1f4f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333acbede74cd5" /><Relationship Type="http://schemas.openxmlformats.org/officeDocument/2006/relationships/notesMaster" Target="/ppt/notesMasters/notesMaster1.xml" Id="R2e4a65a8bf5740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df00fdb0404485" /><Relationship Type="http://schemas.openxmlformats.org/officeDocument/2006/relationships/notesMaster" Target="/ppt/notesMasters/notesMaster1.xml" Id="R6154bddebe1a49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db6b764d7b45d9" /><Relationship Type="http://schemas.openxmlformats.org/officeDocument/2006/relationships/notesMaster" Target="/ppt/notesMasters/notesMaster1.xml" Id="R25ef0d1f796b49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139c77d5cc49da" /><Relationship Type="http://schemas.openxmlformats.org/officeDocument/2006/relationships/notesMaster" Target="/ppt/notesMasters/notesMaster1.xml" Id="R0459d61b6fe141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853f415dfe4731" /><Relationship Type="http://schemas.openxmlformats.org/officeDocument/2006/relationships/notesMaster" Target="/ppt/notesMasters/notesMaster1.xml" Id="R9e83eb19466d47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0c8089e2c94bc6" /><Relationship Type="http://schemas.openxmlformats.org/officeDocument/2006/relationships/notesMaster" Target="/ppt/notesMasters/notesMaster1.xml" Id="Ra14a8e8c5be243f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02fc669b8648d5" /><Relationship Type="http://schemas.openxmlformats.org/officeDocument/2006/relationships/notesMaster" Target="/ppt/notesMasters/notesMaster1.xml" Id="R22fa5ff4831c41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448ec748ac4bd6" /><Relationship Type="http://schemas.openxmlformats.org/officeDocument/2006/relationships/notesMaster" Target="/ppt/notesMasters/notesMaster1.xml" Id="R105380449d4a4a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87dec63bf3b465e" /><Relationship Type="http://schemas.openxmlformats.org/officeDocument/2006/relationships/notesMaster" Target="/ppt/notesMasters/notesMaster1.xml" Id="R7bda5b1598544f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Thông tin bìa đối chiếu E:/DA_TGMT/report_revision/context.md và báo cáo hoàn thiện. Bố cục theo C:/Users/nofea/Downloads/Slide.pptx.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Ảnh: E:/DA_TGMT/DATA/results/video_input_preview/video_chay.jpg. Phạm vi chương trình theo fire_detection/main.py, pipeline.py.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Luồng xử lý theo E:/DA_TGMT/fire_detection/main.py, pipeline.py và config.yaml.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Bộ dữ liệu sayedgamal99/smoke-fire-detection-yolo. Số ảnh hợp lệ theo E:/DA_TGMT/report_revision/context.md và hướng dẫn bảo vệ. data.yaml: E:/DA_TGMT/DATA/training/train_official_v2/fire_smoke_data.yaml.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Cấu hình train: E:/DA_TGMT/DATA/training/train_official_v2/fire_smoke_runs/train_official_v2/args.yaml. Ảnh: E:/DA_TGMT/DATA/results/presentation_simple/video_chay/images/alert_fire_20261025_091901_f000099.jpg.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Ảnh: E:/DA_TGMT/DATA/results/presentation_simple/video_khoi/images/alert_smoke_20261025_092047_f000128.jpg. Công thức và ngưỡng đối chiếu fire_detection/pipeline.py, config.yaml.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E:/DA_TGMT/DATA/results/main_v2_conf025_side640/ablation_saved_observations/comparison.json, clip video_khoi. N/M nhớ tín hiệu từ khung trước nên 385 có thể lớn hơn 376.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E:/DA_TGMT/DATA/results/presentation_simple/video_chay/summary.json, video_khoi/summary.json; video sạch từ E:/DA_TGMT/DATA/results/main_v2_conf025_side640. Video trình chiếu ở hai thư mục presentation_simple.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Số test theo lớp từ E:/DA_TGMT/report_revision/context.md, trọng số fire_smoke_v2_best.pt và imgsz 640.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Bảng từng lớp đối chiếu E:/DA_TGMT/report_revision/Bao_cao_chay_khoi_hoan_thien.docx, bảng kết quả test. Kết quả test trong E:/DA_TGMT/DATA/training/train_official_v2/runs/detect/val; tên thư mục val do Ultralytics đặt, lời gọi đánh giá dùng split=test.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Giới hạn theo E:/DA_TGMT/report_revision/context.md và báo cáo hoàn thiện.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69a5ba0f5d410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266a66b3784bf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03fa493f2545f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7c34dcf6d2427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decc9a39204f0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172915e8f140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076BBC-3F0A-4F74-807C-F7BC1036C7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C43D09D-D442-4243-A85C-0D6EDAAA45A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D304EA8-9EA9-4586-84C4-1FF72ABD4C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9B32A6-635A-4BEE-8F00-A44DE918C5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6814698-D732-41A6-87F0-317EC94E03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F0772A1-6631-4ABE-BEEA-5F9B5CF102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0D9C9D-F633-4ACC-9946-D7203E61F7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A387CD6-CE39-47A5-9B20-A4CB009B902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57C059-F1BA-4FB7-B364-AA4FCDAA13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EF5000-1D22-4A85-84B6-3407C37FED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e4903e6f744b1c" /><Relationship Type="http://schemas.openxmlformats.org/officeDocument/2006/relationships/slideLayout" Target="/ppt/slideLayouts/slideLayout1.xml" Id="R2946d86c11434669" /><Relationship Type="http://schemas.openxmlformats.org/officeDocument/2006/relationships/slideLayout" Target="/ppt/slideLayouts/slideLayout2.xml" Id="Rff5f16ffe8b746f8" /><Relationship Type="http://schemas.openxmlformats.org/officeDocument/2006/relationships/slideLayout" Target="/ppt/slideLayouts/slideLayout3.xml" Id="Rb26c45e1b09a4b98" /><Relationship Type="http://schemas.openxmlformats.org/officeDocument/2006/relationships/slideLayout" Target="/ppt/slideLayouts/slideLayout4.xml" Id="R872b9dc2202e4689" /><Relationship Type="http://schemas.openxmlformats.org/officeDocument/2006/relationships/slideLayout" Target="/ppt/slideLayouts/slideLayout5.xml" Id="R68ffd7c8da5e431c" /><Relationship Type="http://schemas.openxmlformats.org/officeDocument/2006/relationships/slideLayout" Target="/ppt/slideLayouts/slideLayout6.xml" Id="R1e296f7292704a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46d86c11434669"/>
    <p:sldLayoutId xmlns:r="http://schemas.openxmlformats.org/officeDocument/2006/relationships" id="2147483650" r:id="Rff5f16ffe8b746f8"/>
    <p:sldLayoutId xmlns:r="http://schemas.openxmlformats.org/officeDocument/2006/relationships" id="2147483651" r:id="Rb26c45e1b09a4b98"/>
    <p:sldLayoutId xmlns:r="http://schemas.openxmlformats.org/officeDocument/2006/relationships" id="2147483652" r:id="R872b9dc2202e4689"/>
    <p:sldLayoutId xmlns:r="http://schemas.openxmlformats.org/officeDocument/2006/relationships" id="2147483653" r:id="R68ffd7c8da5e431c"/>
    <p:sldLayoutId xmlns:r="http://schemas.openxmlformats.org/officeDocument/2006/relationships" id="2147483654" r:id="R1e296f7292704a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3fd9452f6b435c" /><Relationship Type="http://schemas.openxmlformats.org/officeDocument/2006/relationships/notesSlide" Target="/ppt/notesSlides/notesSlide1.xml" Id="Rc7db30d0897b49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47cc7d32474d16" /><Relationship Type="http://schemas.openxmlformats.org/officeDocument/2006/relationships/image" Target="/ppt/media/image.jpeg" Id="Rd2c741b5e31e460c" /><Relationship Type="http://schemas.openxmlformats.org/officeDocument/2006/relationships/notesSlide" Target="/ppt/notesSlides/notesSlide2.xml" Id="Ra0599eceb43941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ca6507d9e44887" /><Relationship Type="http://schemas.openxmlformats.org/officeDocument/2006/relationships/notesSlide" Target="/ppt/notesSlides/notesSlide3.xml" Id="R2b7771b9120a42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b09b611a6d4a22" /><Relationship Type="http://schemas.openxmlformats.org/officeDocument/2006/relationships/notesSlide" Target="/ppt/notesSlides/notesSlide4.xml" Id="Ra75d50f407254e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a3355cb7494616" /><Relationship Type="http://schemas.openxmlformats.org/officeDocument/2006/relationships/image" Target="/ppt/media/image2.jpeg" Id="R03f92947347d4290" /><Relationship Type="http://schemas.openxmlformats.org/officeDocument/2006/relationships/notesSlide" Target="/ppt/notesSlides/notesSlide5.xml" Id="Raf355abac4374b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a751c36e8e4ebb" /><Relationship Type="http://schemas.openxmlformats.org/officeDocument/2006/relationships/image" Target="/ppt/media/image3.jpeg" Id="R65e939b8dc9c4c27" /><Relationship Type="http://schemas.openxmlformats.org/officeDocument/2006/relationships/notesSlide" Target="/ppt/notesSlides/notesSlide6.xml" Id="Rb324a665c7664b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219c53f76c4312" /><Relationship Type="http://schemas.openxmlformats.org/officeDocument/2006/relationships/notesSlide" Target="/ppt/notesSlides/notesSlide7.xml" Id="R66821106a2cd47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f3f6af95c741a1" /><Relationship Type="http://schemas.openxmlformats.org/officeDocument/2006/relationships/notesSlide" Target="/ppt/notesSlides/notesSlide8.xml" Id="Re6ac39b4490947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8b65f90228478c" /><Relationship Type="http://schemas.openxmlformats.org/officeDocument/2006/relationships/notesSlide" Target="/ppt/notesSlides/notesSlide9.xml" Id="R7f6ebbcbf4eb4d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a1757aeec3484f" /><Relationship Type="http://schemas.openxmlformats.org/officeDocument/2006/relationships/notesSlide" Target="/ppt/notesSlides/notesSlide10.xml" Id="R4ff21881d7534a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34c814d23747c8" /><Relationship Type="http://schemas.openxmlformats.org/officeDocument/2006/relationships/notesSlide" Target="/ppt/notesSlides/notesSlide11.xml" Id="R2dd08b8fb0f748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CE1435-3BDE-4ABD-AB4D-5FD4FDA7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1000"/>
            <a:ext cx="962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A58"/>
                </a:solidFill>
                <a:latin typeface="Arial"/>
                <a:ea typeface="Arial"/>
                <a:cs typeface="Arial"/>
              </a:rPr>
              <a:t>TRƯỜNG ĐẠI HỌC XÂY DỰNG HÀ NỘI</a:t>
            </a:r>
          </a:p>
          <a:p xmlns:a="http://schemas.openxmlformats.org/drawingml/2006/main">
            <a:pPr algn="ctr">
              <a:defRPr sz="22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A58"/>
                </a:solidFill>
                <a:latin typeface="Arial"/>
                <a:ea typeface="Arial"/>
                <a:cs typeface="Arial"/>
              </a:rPr>
              <a:t>KHOA CÔNG NGHỆ THÔNG TIN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7581E-76B6-4B56-A0A3-F1A375C2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240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360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defPPr>
            <a:lvl1pPr algn="ctr">
              <a:defRPr sz="360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1pPr>
            <a:lvl2pPr algn="ctr">
              <a:defRPr sz="360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2pPr>
            <a:lvl3pPr algn="ctr">
              <a:defRPr sz="360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3pPr>
            <a:lvl4pPr algn="ctr">
              <a:defRPr sz="360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4pPr>
            <a:lvl5pPr algn="ctr">
              <a:defRPr sz="360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5pPr>
            <a:lvl6pPr algn="ctr">
              <a:defRPr sz="360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6pPr>
            <a:lvl7pPr algn="ctr">
              <a:defRPr sz="360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7pPr>
            <a:lvl8pPr algn="ctr">
              <a:defRPr sz="360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8pPr>
            <a:lvl9pPr algn="ctr">
              <a:defRPr sz="360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7A58"/>
                </a:solidFill>
                <a:latin typeface="Arial"/>
                <a:ea typeface="Arial"/>
                <a:cs typeface="Arial"/>
              </a:rPr>
              <a:t>BÁO CÁO ĐỒ ÁN THỊ GIÁC MÁY TÍNH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7BB178-F92C-4666-A99E-187DF091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71800"/>
            <a:ext cx="1390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5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5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5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5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5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5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5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5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5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5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HỆ THỐNG PHÁT HIỆN CHÁY VÀ KHÓI</a:t>
            </a:r>
          </a:p>
          <a:p xmlns:a="http://schemas.openxmlformats.org/drawingml/2006/main">
            <a:pPr algn="ctr">
              <a:defRPr sz="5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BẰNG MÔ HÌNH YOLOv8n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5F211-5DA1-446C-AC82-3B8C6B30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81625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Sinh viên thực hiện: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04E4F8-741F-4E4C-AC6A-217BF7A1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857875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Đinh Xuân Nam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5E5457-71E8-4B32-A262-B6C76F9A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4198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MSSV: 0211268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12AE9E-4265-423C-8DC3-9190F48C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102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4D84BC-F0F0-44E6-BF93-91A24C90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381625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Giảng viên hướng dẫn: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DFA67A-76B7-4BC3-B73E-39FCB7EC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857875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Nguyễn Đình Quý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311D21-6A1E-48C4-B014-9BC98F33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871537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Hà Nội, tháng 10 năm 2026</a:t>
            </a:r>
          </a:p>
        </p:txBody>
      </p:sp>
    </p:spTree>
    <p:extLst>
      <p:ext uri="{BB962C8B-B14F-4D97-AF65-F5344CB8AC3E}">
        <p14:creationId xmlns:p14="http://schemas.microsoft.com/office/powerpoint/2010/main" val="12117074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E5C60A-6031-4080-9681-D525BC5F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ACD3C-C2CB-40F2-AFC5-ACDFFCD4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19150"/>
            <a:ext cx="1428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Bối Cảnh &amp; Mục Tiêu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A30A8C-3935-43EC-902E-D8F54AC0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Bài toán cần giải quyết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F795FD-2B8D-4BFA-B090-079F0F6F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57625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47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7A5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0568CF-5A8A-4C04-986D-F7777981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57625"/>
            <a:ext cx="75152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Tìm vùng có lửa hoặc khói trong từng khung hình.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8449C-4D5E-4C14-A108-7645A3B2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95875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47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7A5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2A31AE-C0FB-4C0C-B1F2-4048368F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95875"/>
            <a:ext cx="75152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Kiểm tra tín hiệu qua nhiều khung trước khi lưu cảnh báo.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513CC-8273-4A26-AD95-BF249190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29375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47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7A5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8F3850-3A38-4837-8F75-30DCA1DE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75152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Hiển thị kết quả và lưu ảnh, nhật ký trên máy.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D9CC7F-E686-40B9-97C1-BF70BDFE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09925"/>
            <a:ext cx="7581900" cy="5010150"/>
          </a:xfrm>
          <a:prstGeom xmlns:a="http://schemas.openxmlformats.org/drawingml/2006/main" prst="roundRect">
            <a:avLst>
              <a:gd name="adj" fmla="val 2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1E8"/>
            </a:solidFill>
            <a:prstDash val="solid"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1DD011-473C-4FB5-9922-76A36A2F45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c741b5e31e460c"/>
          <a:srcRect xmlns:a="http://schemas.openxmlformats.org/drawingml/2006/main" l="7272" t="0" r="72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3125" y="3238500"/>
            <a:ext cx="7524750" cy="4953000"/>
          </a:xfrm>
          <a:prstGeom xmlns:a="http://schemas.openxmlformats.org/drawingml/2006/main" prst="roundRect">
            <a:avLst>
              <a:gd name="adj" fmla="val 1923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03383-561B-47AE-B5C1-5A80CEE5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42962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Khung hình đầu vào từ video thử nghiệm lửa</a:t>
            </a:r>
          </a:p>
        </p:txBody>
      </p:sp>
    </p:spTree>
    <p:extLst>
      <p:ext uri="{BB962C8B-B14F-4D97-AF65-F5344CB8AC3E}">
        <p14:creationId xmlns:p14="http://schemas.microsoft.com/office/powerpoint/2010/main" val="400130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6FE8DF-2EC5-4580-9F6E-439BE06B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0D1EE-58F2-4B9E-832E-FFD3C967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19150"/>
            <a:ext cx="1428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Kiến Trúc Hệ Thống Tổng Thể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0068F-1329-43E0-AEC8-ABDC9DAD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62375"/>
            <a:ext cx="5162550" cy="4143375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12383">
            <a:solidFill>
              <a:srgbClr val="D9E1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F884B-D3D0-4B5E-9037-7031B554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86250"/>
            <a:ext cx="4324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A58"/>
                </a:solidFill>
                <a:latin typeface="Arial"/>
                <a:ea typeface="Arial"/>
                <a:cs typeface="Arial"/>
              </a:rPr>
              <a:t>1. Dữ Liệu Đầu Vào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FE520-B291-4983-9A6D-9D9B2E5B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43243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Đọc ảnh hoặc video. Chương trình đưa từng khung hình vào mô hình.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55CC2E-46A7-4C11-9EE7-9EC6B983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62375"/>
            <a:ext cx="5162550" cy="4143375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12383">
            <a:solidFill>
              <a:srgbClr val="D9E1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6D63A2-E723-48E9-B998-40D4F82D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86250"/>
            <a:ext cx="4324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A58"/>
                </a:solidFill>
                <a:latin typeface="Arial"/>
                <a:ea typeface="Arial"/>
                <a:cs typeface="Arial"/>
              </a:rPr>
              <a:t>2. Phát Hiện Bằng YOLO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EC9F72-3BB7-42F0-A534-6A87D7B9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143500"/>
            <a:ext cx="43243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YOLOv8n trả về hộp giới hạn, lớp fire/smoke và điểm tin cậy.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E3FAA2-CED2-4144-BF3F-5D960EA8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3762375"/>
            <a:ext cx="5162550" cy="4143375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12383">
            <a:solidFill>
              <a:srgbClr val="D9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31211-5B0A-4FA3-AEDE-C3A646C8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4286250"/>
            <a:ext cx="4324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A58"/>
                </a:solidFill>
                <a:latin typeface="Arial"/>
                <a:ea typeface="Arial"/>
                <a:cs typeface="Arial"/>
              </a:rPr>
              <a:t>3. Xác Nhận &amp; Lưu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E91B8A-7F02-40B0-9260-5C8063BE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5143500"/>
            <a:ext cx="43243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Kiểm tra chuyển động khói và cửa sổ N/M trước khi lưu cảnh báo cục bộ.</a:t>
            </a:r>
          </a:p>
        </p:txBody>
      </p:sp>
    </p:spTree>
    <p:extLst>
      <p:ext uri="{BB962C8B-B14F-4D97-AF65-F5344CB8AC3E}">
        <p14:creationId xmlns:p14="http://schemas.microsoft.com/office/powerpoint/2010/main" val="17622311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136137-6D12-4DE4-B227-637ED051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EA984-39A1-4DF9-A15D-612E145A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19150"/>
            <a:ext cx="1428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Tập Dữ Liệu Thực Nghiệm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B6EB5F-613C-445A-8017-4668C8FC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8001000" cy="7124700"/>
          </a:xfrm>
          <a:prstGeom xmlns:a="http://schemas.openxmlformats.org/drawingml/2006/main" prst="roundRect">
            <a:avLst>
              <a:gd name="adj" fmla="val 2674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12383">
            <a:solidFill>
              <a:srgbClr val="D9E1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F267E-44B7-4955-9165-CC265BCF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90750"/>
            <a:ext cx="8001000" cy="7124700"/>
          </a:xfrm>
          <a:prstGeom xmlns:a="http://schemas.openxmlformats.org/drawingml/2006/main" prst="roundRect">
            <a:avLst>
              <a:gd name="adj" fmla="val 2674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12383">
            <a:solidFill>
              <a:srgbClr val="D9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55FAA-AEDE-4831-8787-AF6112D4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48125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A45C00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A45C00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A45C00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A45C00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A45C00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A45C00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A45C00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A45C00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A45C00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A45C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A45C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A45C00"/>
                </a:solidFill>
                <a:latin typeface="Arial"/>
                <a:ea typeface="Arial"/>
                <a:cs typeface="Arial"/>
              </a:rPr>
              <a:t>Dữ Liệu Cháy &amp; Khói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FF7705-CA92-4C87-BD5D-033BE0BE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05375"/>
            <a:ext cx="6762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Nguồn: Smoke-Fire-Detection-YOLO trên Kaggle.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Ảnh và hộp nhãn đã có sẵn; em kiểm tra nhãn trước khi huấn luyện.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Hai lớp: 0 = smoke, 1 = fire.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0128A9-5EA1-48C2-911B-6324CFE1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048125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2457B8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2457B8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2457B8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2457B8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2457B8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2457B8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2457B8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2457B8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2457B8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2457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457B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457B8"/>
                </a:solidFill>
                <a:latin typeface="Arial"/>
                <a:ea typeface="Arial"/>
                <a:cs typeface="Arial"/>
              </a:rPr>
              <a:t>Cách Chia Dữ Liệu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B0E2E3-80F7-4FD1-9B68-2F7C194A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905375"/>
            <a:ext cx="6762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Train: 14.101 ảnh hợp lệ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Validation: 3.094 ảnh hợp lệ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Test: 4.291 ảnh hợp lệ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 chỉ dùng sau khi chọn trọng số.</a:t>
            </a:r>
          </a:p>
        </p:txBody>
      </p:sp>
    </p:spTree>
    <p:extLst>
      <p:ext uri="{BB962C8B-B14F-4D97-AF65-F5344CB8AC3E}">
        <p14:creationId xmlns:p14="http://schemas.microsoft.com/office/powerpoint/2010/main" val="801481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6C20AF-FEC8-4EEB-ACA7-BB2A7A10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F31E80-4184-457D-A4CF-0D076A91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981075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Mô-đun Phát Hiện</a:t>
            </a:r>
          </a:p>
          <a:p xmlns:a="http://schemas.openxmlformats.org/drawingml/2006/main">
            <a: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Cháy &amp; Khói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5D7F52-AF30-4C2E-AC72-5B36F6AB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771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7A58"/>
                </a:solidFill>
                <a:latin typeface="Arial"/>
                <a:ea typeface="Arial"/>
                <a:cs typeface="Arial"/>
              </a:rPr>
              <a:t>Fine-tune YOLOv8n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A9D3FB-A56B-44B6-9F31-5E1D8BBA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29125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A5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FEDE6D-0B5B-4F3E-97DF-10BC8CA4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29125"/>
            <a:ext cx="73247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Khởi tạo từ yolov8n.pt; huấn luyện 100 epoch trên Kaggle Tesla T4.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01A7EB-2DD2-4245-943C-2349FC6C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0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A5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0F9B09-004A-48F2-AE17-27603033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05500"/>
            <a:ext cx="73247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Dùng toàn bộ tập train, batch 16 và ảnh đầu vào 640 × 640.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FB5213-DD63-491C-A4CF-B0CD241F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381875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A5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553C74-36D7-4696-AC28-F36D221A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381875"/>
            <a:ext cx="73247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Chương trình video dùng fire_smoke_v2_best.pt.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C51CC-EC23-4D31-A0CE-9BCC0FC1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9050"/>
            <a:ext cx="8991600" cy="10248900"/>
          </a:xfrm>
          <a:prstGeom xmlns:a="http://schemas.openxmlformats.org/drawingml/2006/main" prst="roundRect">
            <a:avLst>
              <a:gd name="adj" fmla="val 11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1E8"/>
            </a:solidFill>
            <a:prstDash val="solid"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11F316-BEC0-4C6F-90C4-2288FFE3AA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f92947347d4290"/>
          <a:srcRect xmlns:a="http://schemas.openxmlformats.org/drawingml/2006/main" l="6000" t="0" r="44000" b="0"/>
          <a:stretch xmlns:a="http://schemas.openxmlformats.org/drawingml/2006/main"/>
        </p:blipFill>
        <p:spPr>
          <a:xfrm xmlns:a="http://schemas.openxmlformats.org/drawingml/2006/main">
            <a:off x="9315450" y="47625"/>
            <a:ext cx="8934450" cy="10191750"/>
          </a:xfrm>
          <a:prstGeom xmlns:a="http://schemas.openxmlformats.org/drawingml/2006/main" prst="roundRect">
            <a:avLst>
              <a:gd name="adj" fmla="val 1066"/>
            </a:avLst>
          </a:prstGeom>
        </p:spPr>
      </p:pic>
    </p:spTree>
    <p:extLst>
      <p:ext uri="{BB962C8B-B14F-4D97-AF65-F5344CB8AC3E}">
        <p14:creationId xmlns:p14="http://schemas.microsoft.com/office/powerpoint/2010/main" val="15916452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C35D8E-3CD5-4098-B2BC-435B9943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CD017D-ED5F-426F-B8EF-D7B4D228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19150"/>
            <a:ext cx="1428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Kiểm Tra Chuyển Động Khói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54D0F7-1B26-48F9-9FE1-48F030EC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209925"/>
            <a:ext cx="6248400" cy="4629150"/>
          </a:xfrm>
          <a:prstGeom xmlns:a="http://schemas.openxmlformats.org/drawingml/2006/main" prst="roundRect">
            <a:avLst>
              <a:gd name="adj" fmla="val 2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1E8"/>
            </a:solidFill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AC8A5-1670-48BB-95C4-AE7AA83831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e939b8dc9c4c27"/>
          <a:stretch xmlns:a="http://schemas.openxmlformats.org/drawingml/2006/main"/>
        </p:blipFill>
        <p:spPr>
          <a:xfrm xmlns:a="http://schemas.openxmlformats.org/drawingml/2006/main">
            <a:off x="1790700" y="3783211"/>
            <a:ext cx="6191250" cy="3482578"/>
          </a:xfrm>
          <a:prstGeom xmlns:a="http://schemas.openxmlformats.org/drawingml/2006/main" prst="roundRect">
            <a:avLst>
              <a:gd name="adj" fmla="val 208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49AAD-E8BF-47D9-BD87-DF6279F3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95625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7A58"/>
                </a:solidFill>
                <a:latin typeface="Arial"/>
                <a:ea typeface="Arial"/>
                <a:cs typeface="Arial"/>
              </a:rPr>
              <a:t>Optical Flow &amp; smoke_score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22EC80-87F2-4FCE-934B-F1744662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886200"/>
            <a:ext cx="809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F0565-5BE2-4D86-9A1E-52369A60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524375"/>
            <a:ext cx="8096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Optical flow ước lượng pixel dịch chuyển giữa hai khung hình gần nhau.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FE7F3-BD75-4769-BE62-A2E54325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810250"/>
            <a:ext cx="8096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Điểm khói kết hợp: độ lớn chuyển động 0,35; độ phân tán hướng 0,45; xu hướng đi lên 0,20.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2F4D3F-F5CD-42A5-AAE2-F00AE8DE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7620000"/>
            <a:ext cx="8096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Ngưỡng score là 0,35. Khói thật ít chuyển động vẫn có thể bị chặn.</a:t>
            </a:r>
          </a:p>
        </p:txBody>
      </p:sp>
    </p:spTree>
    <p:extLst>
      <p:ext uri="{BB962C8B-B14F-4D97-AF65-F5344CB8AC3E}">
        <p14:creationId xmlns:p14="http://schemas.microsoft.com/office/powerpoint/2010/main" val="18817879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4D14FC-84C4-4EF4-8899-28748DC8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8EB20-4E2B-4B71-BB2A-40DEA583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19150"/>
            <a:ext cx="1581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 Sánh Ba Cấu Hình Trên Video Khói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D8EEB9-8F0C-4B0C-A176-6C76ACEF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4953000" cy="4810125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12383">
            <a:solidFill>
              <a:srgbClr val="D9E1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1286D-1EC2-42BA-8532-DE93C27E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48125"/>
            <a:ext cx="441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A58"/>
                </a:solidFill>
                <a:latin typeface="Arial"/>
                <a:ea typeface="Arial"/>
                <a:cs typeface="Arial"/>
              </a:rPr>
              <a:t>YOLO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7A8BDA-83D8-43C7-B52C-BDF49C65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91125"/>
            <a:ext cx="4343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5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5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5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5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5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5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5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5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5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5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376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45948-E266-4599-9AD3-C69F5DC7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667500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khung có hộp khói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A20CF-9983-471D-9C42-F074EC1D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4953000" cy="4810125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12383">
            <a:solidFill>
              <a:srgbClr val="D9E1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386BC2-C1FA-405E-9CDE-DF114BA2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48125"/>
            <a:ext cx="441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A58"/>
                </a:solidFill>
                <a:latin typeface="Arial"/>
                <a:ea typeface="Arial"/>
                <a:cs typeface="Arial"/>
              </a:rPr>
              <a:t>YOLO + N/M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AE8511-CDE5-4014-87E6-D0EAACE9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191125"/>
            <a:ext cx="4343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5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5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5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5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5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5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5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5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5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5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385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28C3FC-29A5-4D0E-B3EF-9673C17C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667500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khung được xác nhận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9AA869-5C45-4FAB-B813-CA4FF699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3429000"/>
            <a:ext cx="4953000" cy="4810125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12383">
            <a:solidFill>
              <a:srgbClr val="D9E1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45A92A-97B7-4811-AA5C-B90B19D7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4048125"/>
            <a:ext cx="441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A58"/>
                </a:solidFill>
                <a:latin typeface="Arial"/>
                <a:ea typeface="Arial"/>
                <a:cs typeface="Arial"/>
              </a:rPr>
              <a:t>YOLO + N/M +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42502A-5EEE-4733-88BC-202B3D59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5191125"/>
            <a:ext cx="4343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5550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defPPr>
            <a:lvl1pPr algn="ctr">
              <a:defRPr sz="5550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1pPr>
            <a:lvl2pPr algn="ctr">
              <a:defRPr sz="5550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2pPr>
            <a:lvl3pPr algn="ctr">
              <a:defRPr sz="5550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3pPr>
            <a:lvl4pPr algn="ctr">
              <a:defRPr sz="5550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4pPr>
            <a:lvl5pPr algn="ctr">
              <a:defRPr sz="5550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5pPr>
            <a:lvl6pPr algn="ctr">
              <a:defRPr sz="5550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6pPr>
            <a:lvl7pPr algn="ctr">
              <a:defRPr sz="5550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7pPr>
            <a:lvl8pPr algn="ctr">
              <a:defRPr sz="5550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8pPr>
            <a:lvl9pPr algn="ctr">
              <a:defRPr sz="5550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550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B4232E"/>
                </a:solidFill>
                <a:latin typeface="Arial"/>
                <a:ea typeface="Arial"/>
                <a:cs typeface="Arial"/>
              </a:rPr>
              <a:t>63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95A2BE-A428-4ED7-BE4B-3D61AF67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6667500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khung được xác nhận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8D4894-1657-4A42-B51A-BEFA6A84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8763000"/>
            <a:ext cx="1524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Cùng log 534 khung; đây không phải Recall. Flow có thể làm bỏ sót khói thật.</a:t>
            </a:r>
          </a:p>
        </p:txBody>
      </p:sp>
    </p:spTree>
    <p:extLst>
      <p:ext uri="{BB962C8B-B14F-4D97-AF65-F5344CB8AC3E}">
        <p14:creationId xmlns:p14="http://schemas.microsoft.com/office/powerpoint/2010/main" val="7242032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27F3CB-75F7-4C87-B5A5-F9911582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E88A04-DF66-498F-8047-B9CEEFDD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19150"/>
            <a:ext cx="1428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Kết Quả Chạy Trên Video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66A82C-BDB7-460A-8C89-AAA504E0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8239125" cy="72390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12383">
            <a:solidFill>
              <a:srgbClr val="D9E1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32E8D8-003D-48B1-9121-F496F50D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43125"/>
            <a:ext cx="8239125" cy="72390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12383">
            <a:solidFill>
              <a:srgbClr val="D9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095E5-CD08-4B1B-B0DE-0D8BAB55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714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7A58"/>
                </a:solidFill>
                <a:latin typeface="Arial"/>
                <a:ea typeface="Arial"/>
                <a:cs typeface="Arial"/>
              </a:rPr>
              <a:t>Video Có Lửa / Khói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A35279-512A-4C01-856A-2B180133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62375"/>
            <a:ext cx="709612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Lửa: 21,45 giây, 643 khung</a:t>
            </a:r>
          </a:p>
          <a:p xmlns:a="http://schemas.openxmlformats.org/drawingml/2006/main">
            <a:pPr algn="l"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 lần báo → 1 sự kiện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Khói: 17,80 giây, 534 khung</a:t>
            </a:r>
          </a:p>
          <a:p xmlns:a="http://schemas.openxmlformats.org/drawingml/2006/main">
            <a:pPr algn="l"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 lần báo → 1 sự kiện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025389-F5A9-4527-8431-46BEA2BF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762250"/>
            <a:ext cx="714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B4232E"/>
                </a:solidFill>
                <a:latin typeface="Arial"/>
                <a:ea typeface="Arial"/>
                <a:cs typeface="Arial"/>
              </a:rPr>
              <a:t>Video Sạch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DEF722-E690-4BD7-A0C2-6A11A158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762375"/>
            <a:ext cx="709612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Hai clip dài 15,07 và 10,27 giây.</a:t>
            </a:r>
          </a:p>
          <a:p xmlns:a="http://schemas.openxmlformats.org/drawingml/2006/main">
            <a:pPr algn="l"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Tổng cộng 25,33 giây.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Không có cảnh báo quan sát được trong hai clip này.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EAE486-EDC7-418F-908D-851E7358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572500"/>
            <a:ext cx="1504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Video hiển thị chỉ hộp và tên FIRE / SMOKE; ảnh và log được lưu trên máy.</a:t>
            </a:r>
          </a:p>
        </p:txBody>
      </p:sp>
    </p:spTree>
    <p:extLst>
      <p:ext uri="{BB962C8B-B14F-4D97-AF65-F5344CB8AC3E}">
        <p14:creationId xmlns:p14="http://schemas.microsoft.com/office/powerpoint/2010/main" val="2439466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E86CB2-5DD8-41F7-8451-C6A8270D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9536A1-0EE7-4D94-B147-43336A0F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19150"/>
            <a:ext cx="1428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mAP50 Theo Từng Lớp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B26DF8-5939-4DD3-B1A3-FDC267F5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67000"/>
            <a:ext cx="1333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5B27C8-4D06-4FA0-8F9D-38C2A457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8389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B6E138-C45A-44F7-A3A2-AD7474D6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67000"/>
            <a:ext cx="1333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A74C5-8232-4836-8FB7-7184E087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68389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EED786-68B5-48AA-831F-82478F21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67000"/>
            <a:ext cx="1333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611F14-BBF3-41E6-A3A6-BE9C3D5D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8389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6372E4-CD31-42A4-86C6-DCEE10D1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0"/>
            <a:ext cx="1333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52F882-A12B-42B0-A3BA-1C51D703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8389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D52AAB-C825-47AF-80D5-F4582779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2667000"/>
            <a:ext cx="1333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D539A7-033F-484D-803D-1775D171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68389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1F6C2D-6BCC-468C-B2B5-D3276BCC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2667000"/>
            <a:ext cx="1333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1F1D6D-4513-4728-913D-E1192A74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68389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228A81-B5D1-483B-8D9E-B3B64664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766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Khói (smoke)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9CCED8-110D-4DCB-8733-D5697005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Lửa (fire)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0AFBB4-CA89-4160-A1C0-F3F343AC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33750"/>
            <a:ext cx="9949015" cy="12858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45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3AD908-A815-4045-A570-8DC275BA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43500"/>
            <a:ext cx="8583587" cy="12858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584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5341C2-C5F1-4A80-809D-7BF0E497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4265" y="371475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79,13%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7A604A-F6B7-4DFB-A49D-AB1523FA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8837" y="55245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68,27%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22751-5AE6-4236-BEC2-1720A50F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381875"/>
            <a:ext cx="1543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EA43F2-59A5-4037-8B74-52340BDA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762875"/>
            <a:ext cx="15525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mAP50 trên tập test ảnh: khói 79,13%; lửa 68,27%. Đây là chỉ số đánh giá hộp phát hiện, không phải độ đúng của mọi cảnh báo video.</a:t>
            </a:r>
          </a:p>
        </p:txBody>
      </p:sp>
    </p:spTree>
    <p:extLst>
      <p:ext uri="{BB962C8B-B14F-4D97-AF65-F5344CB8AC3E}">
        <p14:creationId xmlns:p14="http://schemas.microsoft.com/office/powerpoint/2010/main" val="6069936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74095-BCFA-453F-B3E6-AE5C40AA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ACEB6C-F8B7-4B92-A278-EF86DBA4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19150"/>
            <a:ext cx="1428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Kết Quả Đánh Giá Trên Tập Test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38F205-331E-4EDF-BC5A-D7EDB7E5D2AE}"/>
              </a:ext>
            </a:extLst>
          </p:cNvPr>
          <p:cNvGraphicFramePr/>
          <p:nvPr/>
        </p:nvGraphicFramePr>
        <p:xfrm>
          <a:off xmlns:a="http://schemas.openxmlformats.org/drawingml/2006/main" x="876300" y="3238500"/>
          <a:ext xmlns:a="http://schemas.openxmlformats.org/drawingml/2006/main" cx="165354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57625"/>
                <a:gridCol w="3190875"/>
                <a:gridCol w="3000375"/>
                <a:gridCol w="3048000"/>
                <a:gridCol w="3438525"/>
              </a:tblGrid>
              <a:tr h="1023938"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Phạm vi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EDF7F3"/>
                    </a:solidFill>
                  </a:tcPr>
                </a:tc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Precision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EDF7F3"/>
                    </a:solidFill>
                  </a:tcPr>
                </a:tc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Recall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EDF7F3"/>
                    </a:solidFill>
                  </a:tcPr>
                </a:tc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mAP50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EDF7F3"/>
                    </a:solidFill>
                  </a:tcPr>
                </a:tc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mAP50–95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EDF7F3"/>
                    </a:solidFill>
                  </a:tcPr>
                </a:tc>
              </a:tr>
              <a:tr h="1023938"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 lớp, 4.291 ảnh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74,27%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67,45%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73,70%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41,63%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23938"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Khói (smoke)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78,98%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73,08%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79,13%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47,61%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</a:tr>
              <a:tr h="1023938"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Lửa (fire)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69,56%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61,82%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68,27%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35,66%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DF453-4D14-4881-9F16-019CFCAE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620000"/>
            <a:ext cx="1647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Weight: fire_smoke_v2_best.pt  •  imgsz = 640  •  5.166 đối tượng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AB4F5-1191-4C9E-9912-061AD46F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239125"/>
            <a:ext cx="1647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Các chỉ số đo trên ảnh test có nhãn hộp; chưa phải Precision/Recall theo sự kiện video.</a:t>
            </a:r>
          </a:p>
        </p:txBody>
      </p:sp>
    </p:spTree>
    <p:extLst>
      <p:ext uri="{BB962C8B-B14F-4D97-AF65-F5344CB8AC3E}">
        <p14:creationId xmlns:p14="http://schemas.microsoft.com/office/powerpoint/2010/main" val="16060548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9D2EEA-B073-4172-8EE6-0A31E2D9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4472D-7086-4A96-9AF1-0B162459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19150"/>
            <a:ext cx="1428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Đánh Giá &amp; Giới Hạn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84A1A-B502-49F2-8332-8FAB46C8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8001000" cy="72390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12383">
            <a:solidFill>
              <a:srgbClr val="D9E1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83BEA-FC84-463F-AD3D-34D3EEB1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43125"/>
            <a:ext cx="8001000" cy="72390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12383">
            <a:solidFill>
              <a:srgbClr val="D9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7BCD7A-EFA6-414A-A8A8-C33828F0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62250"/>
            <a:ext cx="695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7A58"/>
                </a:solidFill>
                <a:latin typeface="Arial"/>
                <a:ea typeface="Arial"/>
                <a:cs typeface="Arial"/>
              </a:rPr>
              <a:t>Điều Đã Kiểm Tra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11FE8-800D-4BF6-A9DD-C441BECD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762375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A5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693EE1-B8D0-4F53-A5F2-478861AD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762375"/>
            <a:ext cx="6324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Huấn luyện YOLOv8n 100 epoch và đánh giá trên tập test ảnh.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F116B3-A1DC-4268-AFB7-96D28652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95875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A5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7DA9EF-B6DA-4CF4-A94E-DCEFA2D6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095875"/>
            <a:ext cx="6324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Chạy chương trình trên bốn video; lưu ảnh và nhật ký cảnh báo.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6B4570-EDA3-485A-B2FA-CD0000F4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524625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7A5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A5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82ADD-DE28-4CE6-BB54-BD9F44F6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6524625"/>
            <a:ext cx="6324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Đối chiếu YOLO, N/M và optical flow trên cùng log.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D38EFF-DC10-40A2-A960-F0BDB5AF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62250"/>
            <a:ext cx="695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B4232E"/>
                </a:solidFill>
                <a:latin typeface="Arial"/>
                <a:ea typeface="Arial"/>
                <a:cs typeface="Arial"/>
              </a:rPr>
              <a:t>Giới Hạn Hiện Tại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DEF53E-F489-43E4-82D0-31A385D2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62375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4232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D7E73D-268A-4EA4-9C6F-B68265C2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762375"/>
            <a:ext cx="6324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Bốn clip ngắn chưa đại diện nhiều cảnh quay và ánh sáng.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5CA4F8-7008-4434-B615-BADC1CF0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95875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4232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DBF0C3-7518-41E0-8C59-A48FF65E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095875"/>
            <a:ext cx="6324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Flow có thể chặn khói thật; cần video có nhãn để đo theo sự kiện.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94A366-5F43-4E01-B035-B8498A2F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524625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B4232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4232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9C233C-F148-4122-8106-C6D8B1F3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24625"/>
            <a:ext cx="6324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CPU: 4,32 khung/giây; chưa thử Jetson Nano.</a:t>
            </a:r>
          </a:p>
        </p:txBody>
      </p:sp>
    </p:spTree>
    <p:extLst>
      <p:ext uri="{BB962C8B-B14F-4D97-AF65-F5344CB8AC3E}">
        <p14:creationId xmlns:p14="http://schemas.microsoft.com/office/powerpoint/2010/main" val="12274205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2026-10-25T17:10:09.3680000Z</dcterms:created>
  <dcterms:modified xsi:type="dcterms:W3CDTF">2026-10-25T17:10:09.3690000Z</dcterms:modified>
</coreProperties>
</file>